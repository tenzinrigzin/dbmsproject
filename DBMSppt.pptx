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4" r:id="rId4"/>
    <p:sldId id="265" r:id="rId5"/>
    <p:sldId id="263" r:id="rId6"/>
    <p:sldId id="262" r:id="rId7"/>
    <p:sldId id="261" r:id="rId8"/>
    <p:sldId id="260" r:id="rId9"/>
    <p:sldId id="259" r:id="rId10"/>
    <p:sldId id="25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DCCF7E-1F8B-4CB7-9D7A-B802D7587A52}" v="4" dt="2026-02-26T05:31:36.8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46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nzin Rigzin" userId="57a3782f8e6ec7f6" providerId="LiveId" clId="{CB14FC81-877E-4ADA-B11E-93B780F6801C}"/>
    <pc:docChg chg="custSel modSld sldOrd">
      <pc:chgData name="Tenzin Rigzin" userId="57a3782f8e6ec7f6" providerId="LiveId" clId="{CB14FC81-877E-4ADA-B11E-93B780F6801C}" dt="2026-03-03T05:24:23.010" v="59"/>
      <pc:docMkLst>
        <pc:docMk/>
      </pc:docMkLst>
      <pc:sldChg chg="addSp delSp modSp mod modTransition">
        <pc:chgData name="Tenzin Rigzin" userId="57a3782f8e6ec7f6" providerId="LiveId" clId="{CB14FC81-877E-4ADA-B11E-93B780F6801C}" dt="2026-02-26T05:31:29.445" v="55" actId="21"/>
        <pc:sldMkLst>
          <pc:docMk/>
          <pc:sldMk cId="3448335502" sldId="256"/>
        </pc:sldMkLst>
        <pc:picChg chg="mod">
          <ac:chgData name="Tenzin Rigzin" userId="57a3782f8e6ec7f6" providerId="LiveId" clId="{CB14FC81-877E-4ADA-B11E-93B780F6801C}" dt="2026-02-26T05:31:16.545" v="52" actId="1076"/>
          <ac:picMkLst>
            <pc:docMk/>
            <pc:sldMk cId="3448335502" sldId="256"/>
            <ac:picMk id="7" creationId="{76B6F526-ADF8-B523-6F75-B22085B4E86B}"/>
          </ac:picMkLst>
        </pc:picChg>
      </pc:sldChg>
      <pc:sldChg chg="modTransition">
        <pc:chgData name="Tenzin Rigzin" userId="57a3782f8e6ec7f6" providerId="LiveId" clId="{CB14FC81-877E-4ADA-B11E-93B780F6801C}" dt="2026-02-25T04:08:10.464" v="0"/>
        <pc:sldMkLst>
          <pc:docMk/>
          <pc:sldMk cId="3977610179" sldId="257"/>
        </pc:sldMkLst>
      </pc:sldChg>
      <pc:sldChg chg="modTransition">
        <pc:chgData name="Tenzin Rigzin" userId="57a3782f8e6ec7f6" providerId="LiveId" clId="{CB14FC81-877E-4ADA-B11E-93B780F6801C}" dt="2026-02-25T04:08:10.464" v="0"/>
        <pc:sldMkLst>
          <pc:docMk/>
          <pc:sldMk cId="3445084278" sldId="258"/>
        </pc:sldMkLst>
      </pc:sldChg>
      <pc:sldChg chg="modTransition">
        <pc:chgData name="Tenzin Rigzin" userId="57a3782f8e6ec7f6" providerId="LiveId" clId="{CB14FC81-877E-4ADA-B11E-93B780F6801C}" dt="2026-02-25T04:08:10.464" v="0"/>
        <pc:sldMkLst>
          <pc:docMk/>
          <pc:sldMk cId="3427542882" sldId="259"/>
        </pc:sldMkLst>
      </pc:sldChg>
      <pc:sldChg chg="modTransition">
        <pc:chgData name="Tenzin Rigzin" userId="57a3782f8e6ec7f6" providerId="LiveId" clId="{CB14FC81-877E-4ADA-B11E-93B780F6801C}" dt="2026-02-25T04:08:10.464" v="0"/>
        <pc:sldMkLst>
          <pc:docMk/>
          <pc:sldMk cId="2512574504" sldId="260"/>
        </pc:sldMkLst>
      </pc:sldChg>
      <pc:sldChg chg="modTransition">
        <pc:chgData name="Tenzin Rigzin" userId="57a3782f8e6ec7f6" providerId="LiveId" clId="{CB14FC81-877E-4ADA-B11E-93B780F6801C}" dt="2026-02-25T04:08:10.464" v="0"/>
        <pc:sldMkLst>
          <pc:docMk/>
          <pc:sldMk cId="340233820" sldId="261"/>
        </pc:sldMkLst>
      </pc:sldChg>
      <pc:sldChg chg="addSp modSp mod modTransition">
        <pc:chgData name="Tenzin Rigzin" userId="57a3782f8e6ec7f6" providerId="LiveId" clId="{CB14FC81-877E-4ADA-B11E-93B780F6801C}" dt="2026-02-26T05:31:39.461" v="57" actId="1076"/>
        <pc:sldMkLst>
          <pc:docMk/>
          <pc:sldMk cId="868641791" sldId="262"/>
        </pc:sldMkLst>
        <pc:picChg chg="add mod">
          <ac:chgData name="Tenzin Rigzin" userId="57a3782f8e6ec7f6" providerId="LiveId" clId="{CB14FC81-877E-4ADA-B11E-93B780F6801C}" dt="2026-02-26T05:31:39.461" v="57" actId="1076"/>
          <ac:picMkLst>
            <pc:docMk/>
            <pc:sldMk cId="868641791" sldId="262"/>
            <ac:picMk id="15" creationId="{1E65ED0E-01DA-1A9C-0097-A45AE6C3E250}"/>
          </ac:picMkLst>
        </pc:picChg>
      </pc:sldChg>
      <pc:sldChg chg="modTransition">
        <pc:chgData name="Tenzin Rigzin" userId="57a3782f8e6ec7f6" providerId="LiveId" clId="{CB14FC81-877E-4ADA-B11E-93B780F6801C}" dt="2026-02-25T04:08:10.464" v="0"/>
        <pc:sldMkLst>
          <pc:docMk/>
          <pc:sldMk cId="1528400666" sldId="263"/>
        </pc:sldMkLst>
      </pc:sldChg>
      <pc:sldChg chg="addSp delSp modSp mod modTransition">
        <pc:chgData name="Tenzin Rigzin" userId="57a3782f8e6ec7f6" providerId="LiveId" clId="{CB14FC81-877E-4ADA-B11E-93B780F6801C}" dt="2026-02-26T05:30:51.829" v="45" actId="1076"/>
        <pc:sldMkLst>
          <pc:docMk/>
          <pc:sldMk cId="2250981198" sldId="264"/>
        </pc:sldMkLst>
        <pc:spChg chg="mod">
          <ac:chgData name="Tenzin Rigzin" userId="57a3782f8e6ec7f6" providerId="LiveId" clId="{CB14FC81-877E-4ADA-B11E-93B780F6801C}" dt="2026-02-26T03:38:27.839" v="15" actId="1076"/>
          <ac:spMkLst>
            <pc:docMk/>
            <pc:sldMk cId="2250981198" sldId="264"/>
            <ac:spMk id="2" creationId="{E145F9D8-19CA-AEAD-A9B6-662C52245376}"/>
          </ac:spMkLst>
        </pc:spChg>
        <pc:spChg chg="mod">
          <ac:chgData name="Tenzin Rigzin" userId="57a3782f8e6ec7f6" providerId="LiveId" clId="{CB14FC81-877E-4ADA-B11E-93B780F6801C}" dt="2026-02-26T03:38:32.587" v="16" actId="1076"/>
          <ac:spMkLst>
            <pc:docMk/>
            <pc:sldMk cId="2250981198" sldId="264"/>
            <ac:spMk id="3" creationId="{2D56892B-9B29-FEFA-BC08-D449D0DB9C32}"/>
          </ac:spMkLst>
        </pc:spChg>
        <pc:spChg chg="mod">
          <ac:chgData name="Tenzin Rigzin" userId="57a3782f8e6ec7f6" providerId="LiveId" clId="{CB14FC81-877E-4ADA-B11E-93B780F6801C}" dt="2026-02-26T03:39:59.019" v="25" actId="1076"/>
          <ac:spMkLst>
            <pc:docMk/>
            <pc:sldMk cId="2250981198" sldId="264"/>
            <ac:spMk id="5" creationId="{E5452028-5896-6926-9697-E28915DAE8BD}"/>
          </ac:spMkLst>
        </pc:spChg>
        <pc:spChg chg="mod">
          <ac:chgData name="Tenzin Rigzin" userId="57a3782f8e6ec7f6" providerId="LiveId" clId="{CB14FC81-877E-4ADA-B11E-93B780F6801C}" dt="2026-02-26T03:39:59.019" v="25" actId="1076"/>
          <ac:spMkLst>
            <pc:docMk/>
            <pc:sldMk cId="2250981198" sldId="264"/>
            <ac:spMk id="6" creationId="{5DF75509-1AEF-A271-F212-61AE0F9BE85C}"/>
          </ac:spMkLst>
        </pc:spChg>
        <pc:picChg chg="add mod ord">
          <ac:chgData name="Tenzin Rigzin" userId="57a3782f8e6ec7f6" providerId="LiveId" clId="{CB14FC81-877E-4ADA-B11E-93B780F6801C}" dt="2026-02-26T05:30:51.829" v="45" actId="1076"/>
          <ac:picMkLst>
            <pc:docMk/>
            <pc:sldMk cId="2250981198" sldId="264"/>
            <ac:picMk id="12" creationId="{9416A3E8-2E0F-77AE-85E6-B0FA5B03B37B}"/>
          </ac:picMkLst>
        </pc:picChg>
        <pc:picChg chg="add mod">
          <ac:chgData name="Tenzin Rigzin" userId="57a3782f8e6ec7f6" providerId="LiveId" clId="{CB14FC81-877E-4ADA-B11E-93B780F6801C}" dt="2026-02-26T03:54:40.484" v="36" actId="1076"/>
          <ac:picMkLst>
            <pc:docMk/>
            <pc:sldMk cId="2250981198" sldId="264"/>
            <ac:picMk id="14" creationId="{A81612D8-5665-8B6D-596C-E613752E6F2A}"/>
          </ac:picMkLst>
        </pc:picChg>
        <pc:picChg chg="add mod">
          <ac:chgData name="Tenzin Rigzin" userId="57a3782f8e6ec7f6" providerId="LiveId" clId="{CB14FC81-877E-4ADA-B11E-93B780F6801C}" dt="2026-02-26T03:54:58.922" v="43" actId="1076"/>
          <ac:picMkLst>
            <pc:docMk/>
            <pc:sldMk cId="2250981198" sldId="264"/>
            <ac:picMk id="16" creationId="{EEE89C05-9523-22E4-1277-260B99CB2B8F}"/>
          </ac:picMkLst>
        </pc:picChg>
      </pc:sldChg>
      <pc:sldChg chg="ord modTransition">
        <pc:chgData name="Tenzin Rigzin" userId="57a3782f8e6ec7f6" providerId="LiveId" clId="{CB14FC81-877E-4ADA-B11E-93B780F6801C}" dt="2026-03-03T05:24:23.010" v="59"/>
        <pc:sldMkLst>
          <pc:docMk/>
          <pc:sldMk cId="427157274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4644E-D192-4BDE-B2A3-530AA8901B2A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F72DF-07FA-4FA7-B935-5714D5D6F4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42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4644E-D192-4BDE-B2A3-530AA8901B2A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F72DF-07FA-4FA7-B935-5714D5D6F4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044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4644E-D192-4BDE-B2A3-530AA8901B2A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F72DF-07FA-4FA7-B935-5714D5D6F4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584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4644E-D192-4BDE-B2A3-530AA8901B2A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F72DF-07FA-4FA7-B935-5714D5D6F4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344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4644E-D192-4BDE-B2A3-530AA8901B2A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F72DF-07FA-4FA7-B935-5714D5D6F4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451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4644E-D192-4BDE-B2A3-530AA8901B2A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F72DF-07FA-4FA7-B935-5714D5D6F4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334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4644E-D192-4BDE-B2A3-530AA8901B2A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F72DF-07FA-4FA7-B935-5714D5D6F4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890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4644E-D192-4BDE-B2A3-530AA8901B2A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F72DF-07FA-4FA7-B935-5714D5D6F4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636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4644E-D192-4BDE-B2A3-530AA8901B2A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F72DF-07FA-4FA7-B935-5714D5D6F4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904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4644E-D192-4BDE-B2A3-530AA8901B2A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F72DF-07FA-4FA7-B935-5714D5D6F4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22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4644E-D192-4BDE-B2A3-530AA8901B2A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F72DF-07FA-4FA7-B935-5714D5D6F4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8513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4644E-D192-4BDE-B2A3-530AA8901B2A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F72DF-07FA-4FA7-B935-5714D5D6F4DF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7220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4644E-D192-4BDE-B2A3-530AA8901B2A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F72DF-07FA-4FA7-B935-5714D5D6F4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7459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4644E-D192-4BDE-B2A3-530AA8901B2A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F72DF-07FA-4FA7-B935-5714D5D6F4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0675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4644E-D192-4BDE-B2A3-530AA8901B2A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F72DF-07FA-4FA7-B935-5714D5D6F4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933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4644E-D192-4BDE-B2A3-530AA8901B2A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F72DF-07FA-4FA7-B935-5714D5D6F4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5693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4644E-D192-4BDE-B2A3-530AA8901B2A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F72DF-07FA-4FA7-B935-5714D5D6F4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370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064644E-D192-4BDE-B2A3-530AA8901B2A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38F72DF-07FA-4FA7-B935-5714D5D6F4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0579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22FFB8A0-7698-0CFB-5F9A-1001DD8C00E7}"/>
              </a:ext>
            </a:extLst>
          </p:cNvPr>
          <p:cNvSpPr/>
          <p:nvPr/>
        </p:nvSpPr>
        <p:spPr>
          <a:xfrm>
            <a:off x="5639003" y="2016665"/>
            <a:ext cx="5859412" cy="69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Banking Management System (BMS)</a:t>
            </a:r>
            <a:endParaRPr lang="en-US" sz="39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06D69E0-2C54-9B71-4B42-46B2773E6070}"/>
              </a:ext>
            </a:extLst>
          </p:cNvPr>
          <p:cNvSpPr/>
          <p:nvPr/>
        </p:nvSpPr>
        <p:spPr>
          <a:xfrm>
            <a:off x="5639003" y="3567756"/>
            <a:ext cx="5859412" cy="707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DBMS-powered full-stack web application that simulates core banking operations — creating and managing customer accounts, processing deposits and withdrawals, and storing a complete, auditable transaction history in a relational MySQL database.</a:t>
            </a:r>
            <a:endParaRPr lang="en-US" sz="15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BA0DEF04-89F6-8DA7-AB9D-0EEBDE704B2A}"/>
              </a:ext>
            </a:extLst>
          </p:cNvPr>
          <p:cNvSpPr/>
          <p:nvPr/>
        </p:nvSpPr>
        <p:spPr>
          <a:xfrm>
            <a:off x="5639003" y="4780073"/>
            <a:ext cx="5859412" cy="353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Author: [Your Name] · Course: Database Management Systems · Tech stack: MySQL · Node.js · React.js</a:t>
            </a:r>
            <a:endParaRPr lang="en-US" sz="1550" dirty="0"/>
          </a:p>
        </p:txBody>
      </p:sp>
      <p:pic>
        <p:nvPicPr>
          <p:cNvPr id="7" name="Picture 2" descr="Bank Accounts Management System">
            <a:extLst>
              <a:ext uri="{FF2B5EF4-FFF2-40B4-BE49-F238E27FC236}">
                <a16:creationId xmlns:a16="http://schemas.microsoft.com/office/drawing/2014/main" id="{76B6F526-ADF8-B523-6F75-B22085B4E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310" y="566928"/>
            <a:ext cx="4633100" cy="1613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83355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B949207F-9D00-46F6-1786-64940536B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05"/>
            <a:ext cx="4562596" cy="6843895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4879B52F-7669-25B8-030F-A43A498F5256}"/>
              </a:ext>
            </a:extLst>
          </p:cNvPr>
          <p:cNvSpPr/>
          <p:nvPr/>
        </p:nvSpPr>
        <p:spPr>
          <a:xfrm>
            <a:off x="4673640" y="312515"/>
            <a:ext cx="5911532" cy="380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Project Overview — What is BMS?</a:t>
            </a:r>
            <a:endParaRPr lang="en-US" sz="31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EC4290FC-C156-23A7-C6FE-A4E5B1E0DDA6}"/>
              </a:ext>
            </a:extLst>
          </p:cNvPr>
          <p:cNvSpPr/>
          <p:nvPr/>
        </p:nvSpPr>
        <p:spPr>
          <a:xfrm>
            <a:off x="5242817" y="1194257"/>
            <a:ext cx="6051896" cy="973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BMS is a realistic banking simulator intended for learning DBMS-backed web applications. It models account lifecycle and transaction workflows backed by a relational database with strong constraints and ACID-safe operations. The app uses a three-tier architecture:</a:t>
            </a:r>
            <a:endParaRPr lang="en-US" sz="155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A819F87E-E41F-74C4-A1D8-6064D4FC800C}"/>
              </a:ext>
            </a:extLst>
          </p:cNvPr>
          <p:cNvSpPr/>
          <p:nvPr/>
        </p:nvSpPr>
        <p:spPr>
          <a:xfrm>
            <a:off x="4963784" y="2875468"/>
            <a:ext cx="3022748" cy="1974323"/>
          </a:xfrm>
          <a:prstGeom prst="roundRect">
            <a:avLst>
              <a:gd name="adj" fmla="val 1425"/>
            </a:avLst>
          </a:prstGeom>
          <a:solidFill>
            <a:srgbClr val="2E2E2F"/>
          </a:solidFill>
          <a:ln/>
        </p:spPr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3E38D98C-40AB-3ED2-77CA-879D80326956}"/>
              </a:ext>
            </a:extLst>
          </p:cNvPr>
          <p:cNvSpPr/>
          <p:nvPr/>
        </p:nvSpPr>
        <p:spPr>
          <a:xfrm>
            <a:off x="4963784" y="2871854"/>
            <a:ext cx="2264431" cy="237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Frontend — React.js</a:t>
            </a:r>
            <a:endParaRPr lang="en-US" sz="195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159C5308-1CDF-AFF7-2834-B487CB3DC8D4}"/>
              </a:ext>
            </a:extLst>
          </p:cNvPr>
          <p:cNvSpPr/>
          <p:nvPr/>
        </p:nvSpPr>
        <p:spPr>
          <a:xfrm>
            <a:off x="5059161" y="3450937"/>
            <a:ext cx="2628788" cy="730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Interactive UI for account management, transaction forms, and activity timelines.</a:t>
            </a:r>
            <a:endParaRPr lang="en-US" sz="155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DB69B90A-AE7C-F3A9-2067-B0F538972CCC}"/>
              </a:ext>
            </a:extLst>
          </p:cNvPr>
          <p:cNvSpPr/>
          <p:nvPr/>
        </p:nvSpPr>
        <p:spPr>
          <a:xfrm>
            <a:off x="8618823" y="2855169"/>
            <a:ext cx="3233653" cy="2323368"/>
          </a:xfrm>
          <a:prstGeom prst="roundRect">
            <a:avLst>
              <a:gd name="adj" fmla="val 1425"/>
            </a:avLst>
          </a:prstGeom>
          <a:solidFill>
            <a:srgbClr val="2E2E2F"/>
          </a:solidFill>
          <a:ln/>
        </p:spPr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B1A1B451-AA0C-46AF-74BB-05430A454F1C}"/>
              </a:ext>
            </a:extLst>
          </p:cNvPr>
          <p:cNvSpPr/>
          <p:nvPr/>
        </p:nvSpPr>
        <p:spPr>
          <a:xfrm>
            <a:off x="8936550" y="2944203"/>
            <a:ext cx="2628788" cy="475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Backend — Node.js / Express</a:t>
            </a:r>
            <a:endParaRPr lang="en-US" sz="195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59E9BA16-87AA-0692-A81F-EF46D0A02BA4}"/>
              </a:ext>
            </a:extLst>
          </p:cNvPr>
          <p:cNvSpPr/>
          <p:nvPr/>
        </p:nvSpPr>
        <p:spPr>
          <a:xfrm>
            <a:off x="8936550" y="3761095"/>
            <a:ext cx="2628788" cy="730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RESTful API endpoints, business logic, transaction orchestration, and validation.</a:t>
            </a:r>
            <a:endParaRPr lang="en-US" sz="155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D733C6F9-06CE-2E1C-5D42-4FDC562040C2}"/>
              </a:ext>
            </a:extLst>
          </p:cNvPr>
          <p:cNvSpPr/>
          <p:nvPr/>
        </p:nvSpPr>
        <p:spPr>
          <a:xfrm>
            <a:off x="5059160" y="5376894"/>
            <a:ext cx="6955361" cy="876748"/>
          </a:xfrm>
          <a:prstGeom prst="roundRect">
            <a:avLst>
              <a:gd name="adj" fmla="val 2604"/>
            </a:avLst>
          </a:prstGeom>
          <a:solidFill>
            <a:srgbClr val="2E2E2F"/>
          </a:solidFill>
          <a:ln/>
        </p:spPr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EB5A928E-9604-20D4-C612-555F63CA1F03}"/>
              </a:ext>
            </a:extLst>
          </p:cNvPr>
          <p:cNvSpPr/>
          <p:nvPr/>
        </p:nvSpPr>
        <p:spPr>
          <a:xfrm>
            <a:off x="5174350" y="5376894"/>
            <a:ext cx="1986944" cy="237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Database — MySQL</a:t>
            </a:r>
            <a:endParaRPr lang="en-US" sz="195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B147D3E9-81D7-69C9-8A06-B91E95E3B66C}"/>
              </a:ext>
            </a:extLst>
          </p:cNvPr>
          <p:cNvSpPr/>
          <p:nvPr/>
        </p:nvSpPr>
        <p:spPr>
          <a:xfrm>
            <a:off x="5174350" y="5811815"/>
            <a:ext cx="5734168" cy="243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Relational storage with constraints, indexes, and transactional guarantees.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3977610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91A3B-62F3-063B-8BB1-B39B68128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145F9D8-19CA-AEAD-A9B6-662C52245376}"/>
              </a:ext>
            </a:extLst>
          </p:cNvPr>
          <p:cNvSpPr/>
          <p:nvPr/>
        </p:nvSpPr>
        <p:spPr>
          <a:xfrm>
            <a:off x="814050" y="200569"/>
            <a:ext cx="690503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Database Design — Core Schema</a:t>
            </a:r>
            <a:endParaRPr lang="en-US" sz="3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D56892B-9B29-FEFA-BC08-D449D0DB9C32}"/>
              </a:ext>
            </a:extLst>
          </p:cNvPr>
          <p:cNvSpPr/>
          <p:nvPr/>
        </p:nvSpPr>
        <p:spPr>
          <a:xfrm>
            <a:off x="814050" y="86900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bms database centres around two core tables. The schema is compact, explicit, and designed for data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integrity and performant joins.</a:t>
            </a:r>
            <a:endParaRPr lang="en-US" sz="155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E5452028-5896-6926-9697-E28915DAE8BD}"/>
              </a:ext>
            </a:extLst>
          </p:cNvPr>
          <p:cNvSpPr/>
          <p:nvPr/>
        </p:nvSpPr>
        <p:spPr>
          <a:xfrm>
            <a:off x="9083732" y="172836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transactions</a:t>
            </a:r>
            <a:endParaRPr lang="en-US" sz="195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5DF75509-1AEF-A271-F212-61AE0F9BE85C}"/>
              </a:ext>
            </a:extLst>
          </p:cNvPr>
          <p:cNvSpPr/>
          <p:nvPr/>
        </p:nvSpPr>
        <p:spPr>
          <a:xfrm>
            <a:off x="8776641" y="2401271"/>
            <a:ext cx="3095085" cy="2173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Append-only ledger recording every deposit or withdrawal. Key columns: id (PK), account_id (FK), amount, type, transaction_date.</a:t>
            </a:r>
            <a:endParaRPr lang="en-US" sz="155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EC9F3625-34ED-B4EF-9E2A-7432C8B2FB34}"/>
              </a:ext>
            </a:extLst>
          </p:cNvPr>
          <p:cNvSpPr/>
          <p:nvPr/>
        </p:nvSpPr>
        <p:spPr>
          <a:xfrm>
            <a:off x="500488" y="542628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Relationship: transactions.account_id → accounts.id (foreign key). This design keeps transactional data separate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from account metadata for clarity and normalization.</a:t>
            </a:r>
            <a:endParaRPr lang="en-US" sz="15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81612D8-5665-8B6D-596C-E613752E6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2" y="3429000"/>
            <a:ext cx="4499418" cy="183684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EE89C05-9523-22E4-1277-260B99CB2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2" y="1839750"/>
            <a:ext cx="4752517" cy="16221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16A3E8-2E0F-77AE-85E6-B0FA5B03B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942" y="1265478"/>
            <a:ext cx="4141997" cy="408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981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2AB54-53C2-DCFB-308B-9587672F6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F2DC2DE-E892-908B-A888-39D35E043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4162" y="324092"/>
            <a:ext cx="4722471" cy="7083706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EFAE3B23-F5C0-7369-09D7-0504B2350CBA}"/>
              </a:ext>
            </a:extLst>
          </p:cNvPr>
          <p:cNvSpPr/>
          <p:nvPr/>
        </p:nvSpPr>
        <p:spPr>
          <a:xfrm>
            <a:off x="284895" y="201280"/>
            <a:ext cx="6034557" cy="389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System Architecture &amp; API Contract</a:t>
            </a:r>
            <a:endParaRPr lang="en-US" sz="28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BB50BA4-2052-ABEF-A91C-D164CCF2FC44}"/>
              </a:ext>
            </a:extLst>
          </p:cNvPr>
          <p:cNvSpPr/>
          <p:nvPr/>
        </p:nvSpPr>
        <p:spPr>
          <a:xfrm>
            <a:off x="284896" y="916580"/>
            <a:ext cx="6282246" cy="477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system exposes a small, well-documented REST surface. Ports shown are examples used in development and testing.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539F3AC-B8CF-7CAD-B6D7-C7631546D69F}"/>
              </a:ext>
            </a:extLst>
          </p:cNvPr>
          <p:cNvSpPr/>
          <p:nvPr/>
        </p:nvSpPr>
        <p:spPr>
          <a:xfrm>
            <a:off x="284896" y="1731422"/>
            <a:ext cx="6282246" cy="935783"/>
          </a:xfrm>
          <a:prstGeom prst="roundRect">
            <a:avLst>
              <a:gd name="adj" fmla="val 2500"/>
            </a:avLst>
          </a:prstGeom>
          <a:solidFill>
            <a:srgbClr val="0F0F10"/>
          </a:solidFill>
          <a:ln w="22860">
            <a:solidFill>
              <a:srgbClr val="474748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E0C2B3F-0FBC-335D-A358-61B944EA6EC4}"/>
              </a:ext>
            </a:extLst>
          </p:cNvPr>
          <p:cNvSpPr/>
          <p:nvPr/>
        </p:nvSpPr>
        <p:spPr>
          <a:xfrm>
            <a:off x="307756" y="1747916"/>
            <a:ext cx="591712" cy="896429"/>
          </a:xfrm>
          <a:prstGeom prst="rect">
            <a:avLst/>
          </a:prstGeom>
          <a:solidFill>
            <a:srgbClr val="2E2E2F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A597A9F-62A7-061D-9472-381A014232AB}"/>
              </a:ext>
            </a:extLst>
          </p:cNvPr>
          <p:cNvSpPr/>
          <p:nvPr/>
        </p:nvSpPr>
        <p:spPr>
          <a:xfrm>
            <a:off x="534213" y="2001081"/>
            <a:ext cx="221832" cy="292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7CDC4CF-18A0-D1C4-F6F8-FE5A7D94F268}"/>
              </a:ext>
            </a:extLst>
          </p:cNvPr>
          <p:cNvSpPr/>
          <p:nvPr/>
        </p:nvSpPr>
        <p:spPr>
          <a:xfrm>
            <a:off x="1197867" y="1823406"/>
            <a:ext cx="1849115" cy="243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Frontend</a:t>
            </a:r>
            <a:endParaRPr lang="en-US" sz="17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717632F-C9A3-ABAF-5819-CED334BF71E6}"/>
              </a:ext>
            </a:extLst>
          </p:cNvPr>
          <p:cNvSpPr/>
          <p:nvPr/>
        </p:nvSpPr>
        <p:spPr>
          <a:xfrm>
            <a:off x="1197867" y="2204802"/>
            <a:ext cx="5370326" cy="238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React (port 3000) — account views, transaction forms, validation UI.</a:t>
            </a:r>
            <a:endParaRPr lang="en-US" sz="14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B3054B2-76FF-EC1C-A2EA-2DBB82D91F2E}"/>
              </a:ext>
            </a:extLst>
          </p:cNvPr>
          <p:cNvSpPr/>
          <p:nvPr/>
        </p:nvSpPr>
        <p:spPr>
          <a:xfrm>
            <a:off x="284896" y="3019819"/>
            <a:ext cx="6282246" cy="1157456"/>
          </a:xfrm>
          <a:prstGeom prst="roundRect">
            <a:avLst>
              <a:gd name="adj" fmla="val 2021"/>
            </a:avLst>
          </a:prstGeom>
          <a:solidFill>
            <a:srgbClr val="0F0F10"/>
          </a:solidFill>
          <a:ln w="22860">
            <a:solidFill>
              <a:srgbClr val="474748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7BB7A94-2B60-6322-6F35-0DAD215B95D4}"/>
              </a:ext>
            </a:extLst>
          </p:cNvPr>
          <p:cNvSpPr/>
          <p:nvPr/>
        </p:nvSpPr>
        <p:spPr>
          <a:xfrm>
            <a:off x="307756" y="3036313"/>
            <a:ext cx="591712" cy="1118102"/>
          </a:xfrm>
          <a:prstGeom prst="rect">
            <a:avLst/>
          </a:prstGeom>
          <a:solidFill>
            <a:srgbClr val="2E2E2F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1BCE316-A4FF-0EE7-8377-757582FEDF9F}"/>
              </a:ext>
            </a:extLst>
          </p:cNvPr>
          <p:cNvSpPr/>
          <p:nvPr/>
        </p:nvSpPr>
        <p:spPr>
          <a:xfrm>
            <a:off x="534213" y="3382325"/>
            <a:ext cx="221832" cy="292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831AA6D-BB3A-CA64-AFD9-7D62615A630A}"/>
              </a:ext>
            </a:extLst>
          </p:cNvPr>
          <p:cNvSpPr/>
          <p:nvPr/>
        </p:nvSpPr>
        <p:spPr>
          <a:xfrm>
            <a:off x="1197867" y="3075943"/>
            <a:ext cx="1849115" cy="243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API</a:t>
            </a:r>
            <a:endParaRPr lang="en-US" sz="17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431048D-FDCA-6176-4A60-B1BA2565E02C}"/>
              </a:ext>
            </a:extLst>
          </p:cNvPr>
          <p:cNvSpPr/>
          <p:nvPr/>
        </p:nvSpPr>
        <p:spPr>
          <a:xfrm>
            <a:off x="1197867" y="3495950"/>
            <a:ext cx="5370326" cy="477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Node.js / Express (port 4000) — endpoints below implement business logic and orchestrate DB transactions.</a:t>
            </a:r>
            <a:endParaRPr lang="en-US" sz="14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F41BCFF-C606-19D0-8BC6-A1CDEEAD374B}"/>
              </a:ext>
            </a:extLst>
          </p:cNvPr>
          <p:cNvSpPr/>
          <p:nvPr/>
        </p:nvSpPr>
        <p:spPr>
          <a:xfrm>
            <a:off x="284896" y="4494029"/>
            <a:ext cx="6282246" cy="935783"/>
          </a:xfrm>
          <a:prstGeom prst="roundRect">
            <a:avLst>
              <a:gd name="adj" fmla="val 2500"/>
            </a:avLst>
          </a:prstGeom>
          <a:solidFill>
            <a:srgbClr val="0F0F10"/>
          </a:solidFill>
          <a:ln w="22860">
            <a:solidFill>
              <a:srgbClr val="474748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8868678-0889-9666-93A4-495A1EA8CAEB}"/>
              </a:ext>
            </a:extLst>
          </p:cNvPr>
          <p:cNvSpPr/>
          <p:nvPr/>
        </p:nvSpPr>
        <p:spPr>
          <a:xfrm>
            <a:off x="307756" y="4510523"/>
            <a:ext cx="591712" cy="896429"/>
          </a:xfrm>
          <a:prstGeom prst="rect">
            <a:avLst/>
          </a:prstGeom>
          <a:solidFill>
            <a:srgbClr val="2E2E2F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97B238C-849B-59E3-27D4-F06F778A3EF6}"/>
              </a:ext>
            </a:extLst>
          </p:cNvPr>
          <p:cNvSpPr/>
          <p:nvPr/>
        </p:nvSpPr>
        <p:spPr>
          <a:xfrm>
            <a:off x="534213" y="4763688"/>
            <a:ext cx="221832" cy="292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E8F90D7-FA9C-FFC6-3854-500620B92BFC}"/>
              </a:ext>
            </a:extLst>
          </p:cNvPr>
          <p:cNvSpPr/>
          <p:nvPr/>
        </p:nvSpPr>
        <p:spPr>
          <a:xfrm>
            <a:off x="1197867" y="4586013"/>
            <a:ext cx="1849115" cy="243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Database</a:t>
            </a:r>
            <a:endParaRPr lang="en-US" sz="17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50E0238-C84A-7294-F2EA-0627CDC8060F}"/>
              </a:ext>
            </a:extLst>
          </p:cNvPr>
          <p:cNvSpPr/>
          <p:nvPr/>
        </p:nvSpPr>
        <p:spPr>
          <a:xfrm>
            <a:off x="1197867" y="4967409"/>
            <a:ext cx="5370326" cy="238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MySQL (port 3306) — schema, constraints, and transaction engine.</a:t>
            </a:r>
            <a:endParaRPr lang="en-US" sz="14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05236F6-01AC-7F1D-E1F9-9956E7E68868}"/>
              </a:ext>
            </a:extLst>
          </p:cNvPr>
          <p:cNvSpPr/>
          <p:nvPr/>
        </p:nvSpPr>
        <p:spPr>
          <a:xfrm>
            <a:off x="307756" y="5638200"/>
            <a:ext cx="6282246" cy="716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Key endpoints: GET /api/accounts → fetch all accounts GET /api/accounts/transactions/:id → fetch transaction history for an account POST /api/accounts/transaction → perform deposit or withdrawal (server validates and executes DB transaction)</a:t>
            </a:r>
            <a:endParaRPr lang="en-US" sz="1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A84CA3A-780E-0863-52FC-8362EBCE55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53" r="6621" b="4760"/>
          <a:stretch>
            <a:fillRect/>
          </a:stretch>
        </p:blipFill>
        <p:spPr>
          <a:xfrm>
            <a:off x="6865541" y="991565"/>
            <a:ext cx="4928184" cy="491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57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1D303-9F8C-D886-0EC3-CA092DEE1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0A9A214-43E9-1B38-0695-1AAD45028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033" y="-633412"/>
            <a:ext cx="5477192" cy="8229600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518B79C7-D687-BECB-ABAD-05F2ED9FD5A5}"/>
              </a:ext>
            </a:extLst>
          </p:cNvPr>
          <p:cNvSpPr/>
          <p:nvPr/>
        </p:nvSpPr>
        <p:spPr>
          <a:xfrm>
            <a:off x="3942821" y="472642"/>
            <a:ext cx="7404432" cy="33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Keys &amp; Constraints — Protecting Data Integrity</a:t>
            </a:r>
            <a:endParaRPr lang="en-US" sz="2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310925E-FBE0-C735-D066-AF5CAFB10D7D}"/>
              </a:ext>
            </a:extLst>
          </p:cNvPr>
          <p:cNvSpPr/>
          <p:nvPr/>
        </p:nvSpPr>
        <p:spPr>
          <a:xfrm>
            <a:off x="3942820" y="944963"/>
            <a:ext cx="8055562" cy="18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Constraints enforce business rules at the DB level so the application can rely on correct state even under concurrent operations.</a:t>
            </a:r>
            <a:endParaRPr lang="en-US" sz="10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4270608-1EE3-48E0-7E50-6AAB8C150EE8}"/>
              </a:ext>
            </a:extLst>
          </p:cNvPr>
          <p:cNvSpPr/>
          <p:nvPr/>
        </p:nvSpPr>
        <p:spPr>
          <a:xfrm>
            <a:off x="3942820" y="1429071"/>
            <a:ext cx="8055562" cy="930116"/>
          </a:xfrm>
          <a:prstGeom prst="roundRect">
            <a:avLst>
              <a:gd name="adj" fmla="val 7865"/>
            </a:avLst>
          </a:prstGeom>
          <a:solidFill>
            <a:srgbClr val="0F0F10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FCC13E2-C82A-0E68-638F-940A39BAEA02}"/>
              </a:ext>
            </a:extLst>
          </p:cNvPr>
          <p:cNvSpPr/>
          <p:nvPr/>
        </p:nvSpPr>
        <p:spPr>
          <a:xfrm>
            <a:off x="3942820" y="1413831"/>
            <a:ext cx="8055562" cy="60960"/>
          </a:xfrm>
          <a:prstGeom prst="roundRect">
            <a:avLst>
              <a:gd name="adj" fmla="val 33068"/>
            </a:avLst>
          </a:prstGeom>
          <a:solidFill>
            <a:srgbClr val="FF6BD8"/>
          </a:solidFill>
          <a:ln/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7A4B732-19C9-C284-7115-BFE794641458}"/>
              </a:ext>
            </a:extLst>
          </p:cNvPr>
          <p:cNvSpPr/>
          <p:nvPr/>
        </p:nvSpPr>
        <p:spPr>
          <a:xfrm>
            <a:off x="7775799" y="1227498"/>
            <a:ext cx="402469" cy="403146"/>
          </a:xfrm>
          <a:prstGeom prst="roundRect">
            <a:avLst>
              <a:gd name="adj" fmla="val 226816"/>
            </a:avLst>
          </a:prstGeom>
          <a:solidFill>
            <a:srgbClr val="FF6BD8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3330B15-EE8C-8BA8-27E2-4A14A92C1C83}"/>
              </a:ext>
            </a:extLst>
          </p:cNvPr>
          <p:cNvSpPr/>
          <p:nvPr/>
        </p:nvSpPr>
        <p:spPr>
          <a:xfrm>
            <a:off x="7896768" y="1328225"/>
            <a:ext cx="160940" cy="201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638CE82-B2B7-B10D-E4E9-804B45ADFB9E}"/>
              </a:ext>
            </a:extLst>
          </p:cNvPr>
          <p:cNvSpPr/>
          <p:nvPr/>
        </p:nvSpPr>
        <p:spPr>
          <a:xfrm>
            <a:off x="4092364" y="1764947"/>
            <a:ext cx="1677034" cy="209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Primary Keys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0411B42-CA90-42FE-2618-4C0F92F20A06}"/>
              </a:ext>
            </a:extLst>
          </p:cNvPr>
          <p:cNvSpPr/>
          <p:nvPr/>
        </p:nvSpPr>
        <p:spPr>
          <a:xfrm>
            <a:off x="4092363" y="2029384"/>
            <a:ext cx="7756979" cy="18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id columns are PRIMARY KEY with AUTO_INCREMENT to uniquely identify rows and simplify joins.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13760A1-C1E1-A2D8-80B1-F15FDAE5D07A}"/>
              </a:ext>
            </a:extLst>
          </p:cNvPr>
          <p:cNvSpPr/>
          <p:nvPr/>
        </p:nvSpPr>
        <p:spPr>
          <a:xfrm>
            <a:off x="3942820" y="2651724"/>
            <a:ext cx="8055562" cy="930116"/>
          </a:xfrm>
          <a:prstGeom prst="roundRect">
            <a:avLst>
              <a:gd name="adj" fmla="val 7865"/>
            </a:avLst>
          </a:prstGeom>
          <a:solidFill>
            <a:srgbClr val="0F0F10"/>
          </a:solidFill>
          <a:ln/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EB5C0D6-573F-3FB0-079E-B692C3AAD9FB}"/>
              </a:ext>
            </a:extLst>
          </p:cNvPr>
          <p:cNvSpPr/>
          <p:nvPr/>
        </p:nvSpPr>
        <p:spPr>
          <a:xfrm>
            <a:off x="3942820" y="2636484"/>
            <a:ext cx="8055562" cy="60960"/>
          </a:xfrm>
          <a:prstGeom prst="roundRect">
            <a:avLst>
              <a:gd name="adj" fmla="val 33068"/>
            </a:avLst>
          </a:prstGeom>
          <a:solidFill>
            <a:srgbClr val="FF6BD8"/>
          </a:solidFill>
          <a:ln/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364E40F-ED24-4A41-3937-59809411B764}"/>
              </a:ext>
            </a:extLst>
          </p:cNvPr>
          <p:cNvSpPr/>
          <p:nvPr/>
        </p:nvSpPr>
        <p:spPr>
          <a:xfrm>
            <a:off x="7775799" y="2450151"/>
            <a:ext cx="402469" cy="403146"/>
          </a:xfrm>
          <a:prstGeom prst="roundRect">
            <a:avLst>
              <a:gd name="adj" fmla="val 226816"/>
            </a:avLst>
          </a:prstGeom>
          <a:solidFill>
            <a:srgbClr val="FF6BD8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BFFBCD1-4529-3774-BD4B-E7ED9F4FA684}"/>
              </a:ext>
            </a:extLst>
          </p:cNvPr>
          <p:cNvSpPr/>
          <p:nvPr/>
        </p:nvSpPr>
        <p:spPr>
          <a:xfrm>
            <a:off x="7896768" y="2550878"/>
            <a:ext cx="160940" cy="201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50B07B7-8F6C-7162-4161-45E459A358DE}"/>
              </a:ext>
            </a:extLst>
          </p:cNvPr>
          <p:cNvSpPr/>
          <p:nvPr/>
        </p:nvSpPr>
        <p:spPr>
          <a:xfrm>
            <a:off x="4092364" y="2987599"/>
            <a:ext cx="1677034" cy="209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Foreign Key</a:t>
            </a:r>
            <a:endParaRPr lang="en-US" sz="13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779A06B-11D3-0D6E-225F-88F1E510CAB6}"/>
              </a:ext>
            </a:extLst>
          </p:cNvPr>
          <p:cNvSpPr/>
          <p:nvPr/>
        </p:nvSpPr>
        <p:spPr>
          <a:xfrm>
            <a:off x="4092363" y="3252037"/>
            <a:ext cx="7756979" cy="18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transactions.account_id REFERENCES accounts.id with ON DELETE CASCADE — removing an account removes its transactions.</a:t>
            </a:r>
            <a:endParaRPr lang="en-US" sz="10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E1268EF-4864-F26A-5D76-173222C7EDF2}"/>
              </a:ext>
            </a:extLst>
          </p:cNvPr>
          <p:cNvSpPr/>
          <p:nvPr/>
        </p:nvSpPr>
        <p:spPr>
          <a:xfrm>
            <a:off x="3942820" y="3874377"/>
            <a:ext cx="8055562" cy="930116"/>
          </a:xfrm>
          <a:prstGeom prst="roundRect">
            <a:avLst>
              <a:gd name="adj" fmla="val 7865"/>
            </a:avLst>
          </a:prstGeom>
          <a:solidFill>
            <a:srgbClr val="0F0F10"/>
          </a:solidFill>
          <a:ln/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B4DA296-EEC9-D536-3D91-4BAA9BF7C46F}"/>
              </a:ext>
            </a:extLst>
          </p:cNvPr>
          <p:cNvSpPr/>
          <p:nvPr/>
        </p:nvSpPr>
        <p:spPr>
          <a:xfrm>
            <a:off x="3942820" y="3859137"/>
            <a:ext cx="8055562" cy="60960"/>
          </a:xfrm>
          <a:prstGeom prst="roundRect">
            <a:avLst>
              <a:gd name="adj" fmla="val 33068"/>
            </a:avLst>
          </a:prstGeom>
          <a:solidFill>
            <a:srgbClr val="FF6BD8"/>
          </a:solidFill>
          <a:ln/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9489A7E-FDED-1218-F33B-906DCCEBA0C7}"/>
              </a:ext>
            </a:extLst>
          </p:cNvPr>
          <p:cNvSpPr/>
          <p:nvPr/>
        </p:nvSpPr>
        <p:spPr>
          <a:xfrm>
            <a:off x="7775799" y="3672804"/>
            <a:ext cx="402469" cy="403146"/>
          </a:xfrm>
          <a:prstGeom prst="roundRect">
            <a:avLst>
              <a:gd name="adj" fmla="val 226816"/>
            </a:avLst>
          </a:prstGeom>
          <a:solidFill>
            <a:srgbClr val="FF6BD8"/>
          </a:solidFill>
          <a:ln/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2809AA6-4ADE-F9D1-07F4-9C4490F8548A}"/>
              </a:ext>
            </a:extLst>
          </p:cNvPr>
          <p:cNvSpPr/>
          <p:nvPr/>
        </p:nvSpPr>
        <p:spPr>
          <a:xfrm>
            <a:off x="7896768" y="3773531"/>
            <a:ext cx="160940" cy="201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3</a:t>
            </a:r>
            <a:endParaRPr lang="en-US" sz="12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0252D67-3839-8532-E569-5D5D4278670E}"/>
              </a:ext>
            </a:extLst>
          </p:cNvPr>
          <p:cNvSpPr/>
          <p:nvPr/>
        </p:nvSpPr>
        <p:spPr>
          <a:xfrm>
            <a:off x="4092364" y="4210252"/>
            <a:ext cx="1810160" cy="209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NOT NULL &amp; DEFAULT</a:t>
            </a:r>
            <a:endParaRPr lang="en-US" sz="13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A123041-890E-C41D-4653-421D2E62E819}"/>
              </a:ext>
            </a:extLst>
          </p:cNvPr>
          <p:cNvSpPr/>
          <p:nvPr/>
        </p:nvSpPr>
        <p:spPr>
          <a:xfrm>
            <a:off x="4092363" y="4474690"/>
            <a:ext cx="7756979" cy="18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Critical columns (name, amount, type) marked NOT NULL. balance default = 0.00; timestamps default to CURRENT_TIMESTAMP.</a:t>
            </a:r>
            <a:endParaRPr lang="en-US" sz="10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6E6BC8E0-D5B5-E20C-4ABD-4715D8C2057F}"/>
              </a:ext>
            </a:extLst>
          </p:cNvPr>
          <p:cNvSpPr/>
          <p:nvPr/>
        </p:nvSpPr>
        <p:spPr>
          <a:xfrm>
            <a:off x="3942820" y="5097030"/>
            <a:ext cx="8055562" cy="930116"/>
          </a:xfrm>
          <a:prstGeom prst="roundRect">
            <a:avLst>
              <a:gd name="adj" fmla="val 7865"/>
            </a:avLst>
          </a:prstGeom>
          <a:solidFill>
            <a:srgbClr val="0F0F10"/>
          </a:solidFill>
          <a:ln/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527D12A-F462-7DD5-3A45-B892D9AA2B06}"/>
              </a:ext>
            </a:extLst>
          </p:cNvPr>
          <p:cNvSpPr/>
          <p:nvPr/>
        </p:nvSpPr>
        <p:spPr>
          <a:xfrm>
            <a:off x="3942820" y="5081790"/>
            <a:ext cx="8055562" cy="60960"/>
          </a:xfrm>
          <a:prstGeom prst="roundRect">
            <a:avLst>
              <a:gd name="adj" fmla="val 33068"/>
            </a:avLst>
          </a:prstGeom>
          <a:solidFill>
            <a:srgbClr val="FF6BD8"/>
          </a:solidFill>
          <a:ln/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B494CCFB-CF3D-C407-9F5A-66A9AB381B73}"/>
              </a:ext>
            </a:extLst>
          </p:cNvPr>
          <p:cNvSpPr/>
          <p:nvPr/>
        </p:nvSpPr>
        <p:spPr>
          <a:xfrm>
            <a:off x="7775799" y="4895457"/>
            <a:ext cx="402469" cy="403146"/>
          </a:xfrm>
          <a:prstGeom prst="roundRect">
            <a:avLst>
              <a:gd name="adj" fmla="val 226816"/>
            </a:avLst>
          </a:prstGeom>
          <a:solidFill>
            <a:srgbClr val="FF6BD8"/>
          </a:solidFill>
          <a:ln/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381F39B1-7A8F-BFFF-64EE-65F5CAED36CC}"/>
              </a:ext>
            </a:extLst>
          </p:cNvPr>
          <p:cNvSpPr/>
          <p:nvPr/>
        </p:nvSpPr>
        <p:spPr>
          <a:xfrm>
            <a:off x="7896768" y="4996184"/>
            <a:ext cx="160940" cy="201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4</a:t>
            </a:r>
            <a:endParaRPr lang="en-US" sz="125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0DCEE94-B956-F030-67FB-5B1A6916AA15}"/>
              </a:ext>
            </a:extLst>
          </p:cNvPr>
          <p:cNvSpPr/>
          <p:nvPr/>
        </p:nvSpPr>
        <p:spPr>
          <a:xfrm>
            <a:off x="4092364" y="5432905"/>
            <a:ext cx="1677034" cy="209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ENUM Constraint</a:t>
            </a:r>
            <a:endParaRPr lang="en-US" sz="13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06791A0-2FC4-2687-9916-353CCD2AF26C}"/>
              </a:ext>
            </a:extLst>
          </p:cNvPr>
          <p:cNvSpPr/>
          <p:nvPr/>
        </p:nvSpPr>
        <p:spPr>
          <a:xfrm>
            <a:off x="4092363" y="5697343"/>
            <a:ext cx="7756979" cy="18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type ENUM('DEPOSIT','WITHDRAW') prevents invalid transaction types at the schema level.</a:t>
            </a:r>
            <a:endParaRPr lang="en-US" sz="10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4C7034A-5089-19F6-484E-824CB61216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642"/>
          <a:stretch>
            <a:fillRect/>
          </a:stretch>
        </p:blipFill>
        <p:spPr>
          <a:xfrm>
            <a:off x="-705784" y="0"/>
            <a:ext cx="43057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400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F2ECF-1C40-9563-B6E2-7F656A53B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A1DF7A9-E286-FF8A-8BFA-33A9069FB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5039" y="-602902"/>
            <a:ext cx="5062674" cy="7594011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54CC3195-DDC1-7291-820F-C55D61A27623}"/>
              </a:ext>
            </a:extLst>
          </p:cNvPr>
          <p:cNvSpPr/>
          <p:nvPr/>
        </p:nvSpPr>
        <p:spPr>
          <a:xfrm>
            <a:off x="381965" y="289368"/>
            <a:ext cx="6972823" cy="511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SQL Patterns Used — Select, Insert, Update</a:t>
            </a:r>
            <a:endParaRPr lang="en-US" sz="3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2CC2401-2C7E-C0C7-BE45-E11341D0E413}"/>
              </a:ext>
            </a:extLst>
          </p:cNvPr>
          <p:cNvSpPr/>
          <p:nvPr/>
        </p:nvSpPr>
        <p:spPr>
          <a:xfrm>
            <a:off x="381965" y="1406337"/>
            <a:ext cx="6972823" cy="327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backend uses parameterised SQL to interact with MySQL. Examples below represent the canonical queries used across the API.</a:t>
            </a:r>
            <a:endParaRPr lang="en-US" sz="15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B0A271A-DDE8-D533-C9AB-33764752A99C}"/>
              </a:ext>
            </a:extLst>
          </p:cNvPr>
          <p:cNvSpPr/>
          <p:nvPr/>
        </p:nvSpPr>
        <p:spPr>
          <a:xfrm>
            <a:off x="-193973" y="2110600"/>
            <a:ext cx="91519" cy="51156"/>
          </a:xfrm>
          <a:prstGeom prst="roundRect">
            <a:avLst>
              <a:gd name="adj" fmla="val 460985"/>
            </a:avLst>
          </a:prstGeom>
          <a:solidFill>
            <a:srgbClr val="FF6BD8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4ED1E2C-B1A2-DDAE-EEDC-239B20DB4EF5}"/>
              </a:ext>
            </a:extLst>
          </p:cNvPr>
          <p:cNvSpPr/>
          <p:nvPr/>
        </p:nvSpPr>
        <p:spPr>
          <a:xfrm>
            <a:off x="287509" y="2107328"/>
            <a:ext cx="2289300" cy="159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SELECT</a:t>
            </a:r>
            <a:endParaRPr lang="en-US" sz="19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B5D922B-97D5-CF1A-7DB5-E554C7BAAA17}"/>
              </a:ext>
            </a:extLst>
          </p:cNvPr>
          <p:cNvSpPr/>
          <p:nvPr/>
        </p:nvSpPr>
        <p:spPr>
          <a:xfrm>
            <a:off x="656523" y="2693879"/>
            <a:ext cx="6698264" cy="327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SELECT * FROM accounts ORDER BY id ASC; and SELECT * FROM transactions WHERE account_id = ? ORDER BY transaction_date DESC;</a:t>
            </a:r>
            <a:endParaRPr lang="en-US" sz="15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22283B7-4A90-F9C9-3E41-FFD6E456410B}"/>
              </a:ext>
            </a:extLst>
          </p:cNvPr>
          <p:cNvSpPr/>
          <p:nvPr/>
        </p:nvSpPr>
        <p:spPr>
          <a:xfrm>
            <a:off x="-193973" y="3571735"/>
            <a:ext cx="91519" cy="51156"/>
          </a:xfrm>
          <a:prstGeom prst="roundRect">
            <a:avLst>
              <a:gd name="adj" fmla="val 460985"/>
            </a:avLst>
          </a:prstGeom>
          <a:solidFill>
            <a:srgbClr val="FF6BD8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B773E95-1C3D-2136-F960-58CDB81F4705}"/>
              </a:ext>
            </a:extLst>
          </p:cNvPr>
          <p:cNvSpPr/>
          <p:nvPr/>
        </p:nvSpPr>
        <p:spPr>
          <a:xfrm>
            <a:off x="287509" y="3568463"/>
            <a:ext cx="2289300" cy="159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INSERT</a:t>
            </a:r>
            <a:endParaRPr lang="en-US" sz="19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1A495A5-2E37-ECB8-CE5A-C7FBB6CCDFB5}"/>
              </a:ext>
            </a:extLst>
          </p:cNvPr>
          <p:cNvSpPr/>
          <p:nvPr/>
        </p:nvSpPr>
        <p:spPr>
          <a:xfrm>
            <a:off x="656523" y="4155014"/>
            <a:ext cx="6698264" cy="327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INSERT INTO transactions (account_id, amount, type, transaction_date) VALUES (?, ?, ?, NOW()); — parameterised to prevent injection.</a:t>
            </a:r>
            <a:endParaRPr lang="en-US" sz="15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7E3D799-1B13-409C-0D35-741E8D44DB94}"/>
              </a:ext>
            </a:extLst>
          </p:cNvPr>
          <p:cNvSpPr/>
          <p:nvPr/>
        </p:nvSpPr>
        <p:spPr>
          <a:xfrm>
            <a:off x="-193973" y="5032870"/>
            <a:ext cx="91519" cy="51156"/>
          </a:xfrm>
          <a:prstGeom prst="roundRect">
            <a:avLst>
              <a:gd name="adj" fmla="val 460985"/>
            </a:avLst>
          </a:prstGeom>
          <a:solidFill>
            <a:srgbClr val="FF6BD8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42F16F8-EBB3-3A29-7553-91817E9FA1EA}"/>
              </a:ext>
            </a:extLst>
          </p:cNvPr>
          <p:cNvSpPr/>
          <p:nvPr/>
        </p:nvSpPr>
        <p:spPr>
          <a:xfrm>
            <a:off x="287509" y="5029598"/>
            <a:ext cx="2289300" cy="159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UPDATE</a:t>
            </a:r>
            <a:endParaRPr lang="en-US" sz="19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9B92DEB-0E92-B70E-BF26-8757A4375E70}"/>
              </a:ext>
            </a:extLst>
          </p:cNvPr>
          <p:cNvSpPr/>
          <p:nvPr/>
        </p:nvSpPr>
        <p:spPr>
          <a:xfrm>
            <a:off x="656523" y="5616149"/>
            <a:ext cx="6698264" cy="327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UPDATE accounts SET balance = ? WHERE id = ?; — performed inside transactions to maintain consistency.</a:t>
            </a:r>
            <a:endParaRPr lang="en-US" sz="15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11763F8-0334-F783-1F9A-1C0B890FA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3487" y="585060"/>
            <a:ext cx="3966548" cy="28439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E65ED0E-01DA-1A9C-0097-A45AE6C3E2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817"/>
          <a:stretch>
            <a:fillRect/>
          </a:stretch>
        </p:blipFill>
        <p:spPr>
          <a:xfrm>
            <a:off x="7622862" y="3568463"/>
            <a:ext cx="4407798" cy="249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641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E490A-0D61-3B11-5609-14F9F8F6B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889DB2B-9760-9913-E1D4-CBFE1D581AA9}"/>
              </a:ext>
            </a:extLst>
          </p:cNvPr>
          <p:cNvSpPr/>
          <p:nvPr/>
        </p:nvSpPr>
        <p:spPr>
          <a:xfrm>
            <a:off x="474562" y="489003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All monetary operations are wrapped in a DB transaction to guarantee ACID properties. Caption: this diagram illustrates the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ordered steps and decision points used to atomically update account balances and record transactions.</a:t>
            </a:r>
            <a:endParaRPr lang="en-US" sz="15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48E84DE-3DF4-B10D-8EF8-0366908024F1}"/>
              </a:ext>
            </a:extLst>
          </p:cNvPr>
          <p:cNvSpPr/>
          <p:nvPr/>
        </p:nvSpPr>
        <p:spPr>
          <a:xfrm>
            <a:off x="474562" y="5748359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Code pattern: conn.beginTransaction() → SELECT ... FOR UPDATE → business checks → UPDATE + INSERT → conn.commit()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(or conn.rollback() on any failure).</a:t>
            </a:r>
            <a:endParaRPr lang="en-US" sz="15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B4A860-3CAD-720C-F604-7CD26E087C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35" b="11848"/>
          <a:stretch>
            <a:fillRect/>
          </a:stretch>
        </p:blipFill>
        <p:spPr>
          <a:xfrm>
            <a:off x="1881869" y="61339"/>
            <a:ext cx="7590559" cy="4540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33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4FC18-78A9-5967-AB73-41682AA9B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3631307-D715-E831-61C4-9FDD78405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85977C79-575C-7731-BA76-B83D23D3FB69}"/>
              </a:ext>
            </a:extLst>
          </p:cNvPr>
          <p:cNvSpPr/>
          <p:nvPr/>
        </p:nvSpPr>
        <p:spPr>
          <a:xfrm>
            <a:off x="534017" y="250697"/>
            <a:ext cx="7143036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Transactions &amp; ACID Properties</a:t>
            </a:r>
            <a:endParaRPr lang="en-US" sz="3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3B5FE7-5F7F-1E4B-29C1-47C5A76DCB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413" b="10465"/>
          <a:stretch>
            <a:fillRect/>
          </a:stretch>
        </p:blipFill>
        <p:spPr>
          <a:xfrm>
            <a:off x="1773668" y="1250066"/>
            <a:ext cx="7891193" cy="4928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574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4C72B-BD40-B3F7-8E21-8480B3355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BAF8315-8A38-1971-0D40-BD43B1E30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284027BD-0C6A-C9EA-C94A-B17D6219D6A0}"/>
              </a:ext>
            </a:extLst>
          </p:cNvPr>
          <p:cNvSpPr/>
          <p:nvPr/>
        </p:nvSpPr>
        <p:spPr>
          <a:xfrm>
            <a:off x="5796441" y="232890"/>
            <a:ext cx="7691882" cy="1420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24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Scaling &amp; Integrity — Connection </a:t>
            </a:r>
          </a:p>
          <a:p>
            <a:pPr marL="0" indent="0" algn="l">
              <a:lnSpc>
                <a:spcPts val="3850"/>
              </a:lnSpc>
              <a:buNone/>
            </a:pPr>
            <a:r>
              <a:rPr lang="en-US" sz="24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Pooling and Referential Checks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C760F4E-FA2F-1D80-0E77-210C5D31FD6A}"/>
              </a:ext>
            </a:extLst>
          </p:cNvPr>
          <p:cNvSpPr/>
          <p:nvPr/>
        </p:nvSpPr>
        <p:spPr>
          <a:xfrm>
            <a:off x="5796441" y="1384935"/>
            <a:ext cx="7691882" cy="60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Practical considerations for a DB-backed web app: reuse connections, </a:t>
            </a:r>
          </a:p>
          <a:p>
            <a:pPr marL="0" indent="0" algn="l">
              <a:lnSpc>
                <a:spcPts val="24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limit resource contention, and rely on DB-level referential rules.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6D69409-2DBB-38DA-9065-E6BAAF422EBD}"/>
              </a:ext>
            </a:extLst>
          </p:cNvPr>
          <p:cNvSpPr/>
          <p:nvPr/>
        </p:nvSpPr>
        <p:spPr>
          <a:xfrm>
            <a:off x="5635467" y="2162592"/>
            <a:ext cx="453469" cy="426032"/>
          </a:xfrm>
          <a:prstGeom prst="roundRect">
            <a:avLst>
              <a:gd name="adj" fmla="val 6668"/>
            </a:avLst>
          </a:prstGeom>
          <a:solidFill>
            <a:srgbClr val="2E2E2F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BBB6116-9AC0-4406-A5E0-36BB5265DCBE}"/>
              </a:ext>
            </a:extLst>
          </p:cNvPr>
          <p:cNvSpPr/>
          <p:nvPr/>
        </p:nvSpPr>
        <p:spPr>
          <a:xfrm>
            <a:off x="6278762" y="2224585"/>
            <a:ext cx="2720326" cy="295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Connection Pooling</a:t>
            </a:r>
            <a:endParaRPr lang="en-US" sz="1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5FF7AD9-21B8-4455-21AC-4535EEDF2C2B}"/>
              </a:ext>
            </a:extLst>
          </p:cNvPr>
          <p:cNvSpPr/>
          <p:nvPr/>
        </p:nvSpPr>
        <p:spPr>
          <a:xfrm>
            <a:off x="6278762" y="2680916"/>
            <a:ext cx="7037302" cy="907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mysql2 pool with connectionLimit: 10 reduces latency and avoids </a:t>
            </a:r>
          </a:p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frequent TCP handshakes. Connections are checked out per</a:t>
            </a:r>
          </a:p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request and released back to the pool.</a:t>
            </a:r>
            <a:endParaRPr lang="en-US" sz="15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F6A0063-C288-2809-7A5B-1658C510F04E}"/>
              </a:ext>
            </a:extLst>
          </p:cNvPr>
          <p:cNvSpPr/>
          <p:nvPr/>
        </p:nvSpPr>
        <p:spPr>
          <a:xfrm>
            <a:off x="6278762" y="3752638"/>
            <a:ext cx="3173673" cy="295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Referential Integrity</a:t>
            </a:r>
            <a:endParaRPr lang="en-US" sz="19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AC58573-C45E-0D28-0CC9-09A30EC95E4F}"/>
              </a:ext>
            </a:extLst>
          </p:cNvPr>
          <p:cNvSpPr/>
          <p:nvPr/>
        </p:nvSpPr>
        <p:spPr>
          <a:xfrm>
            <a:off x="6278762" y="4279548"/>
            <a:ext cx="7037302" cy="60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Foreign keys prevent orphaned transactions. The database </a:t>
            </a:r>
          </a:p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enforces that a transaction cannot reference a non-existent</a:t>
            </a:r>
          </a:p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account.</a:t>
            </a:r>
            <a:endParaRPr lang="en-US" sz="15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052BD00-E4E9-D0B4-F5DB-50340EA48CD6}"/>
              </a:ext>
            </a:extLst>
          </p:cNvPr>
          <p:cNvSpPr/>
          <p:nvPr/>
        </p:nvSpPr>
        <p:spPr>
          <a:xfrm>
            <a:off x="6278762" y="5361867"/>
            <a:ext cx="2569129" cy="295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ON DELETE CASCADE</a:t>
            </a:r>
            <a:endParaRPr lang="en-US" sz="19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08705CE-0FBC-3ACC-8EEC-73182271205F}"/>
              </a:ext>
            </a:extLst>
          </p:cNvPr>
          <p:cNvSpPr/>
          <p:nvPr/>
        </p:nvSpPr>
        <p:spPr>
          <a:xfrm>
            <a:off x="6278762" y="5804262"/>
            <a:ext cx="7037302" cy="60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Deleting an account removes dependent transactions</a:t>
            </a:r>
          </a:p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automatically — useful for tests and data lifecycle management, </a:t>
            </a:r>
          </a:p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but requires caution in production.</a:t>
            </a:r>
            <a:endParaRPr lang="en-US" sz="15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625F6BB-F61A-4298-8593-9DBFE3A2DC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622" r="20269"/>
          <a:stretch>
            <a:fillRect/>
          </a:stretch>
        </p:blipFill>
        <p:spPr>
          <a:xfrm>
            <a:off x="1" y="0"/>
            <a:ext cx="54863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42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06CE7-6D39-C57E-B103-F1ACC6828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C6FF4802-6D14-A89B-20D5-30433E0D79FE}"/>
              </a:ext>
            </a:extLst>
          </p:cNvPr>
          <p:cNvSpPr/>
          <p:nvPr/>
        </p:nvSpPr>
        <p:spPr>
          <a:xfrm>
            <a:off x="3026033" y="504879"/>
            <a:ext cx="690503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Conclusion — What BMS Teaches</a:t>
            </a:r>
            <a:endParaRPr lang="en-US" sz="31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507111-CDB5-178C-E3F4-FE33BDD442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150" b="7313"/>
          <a:stretch>
            <a:fillRect/>
          </a:stretch>
        </p:blipFill>
        <p:spPr>
          <a:xfrm>
            <a:off x="-336981" y="504879"/>
            <a:ext cx="12420950" cy="615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084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146</TotalTime>
  <Words>797</Words>
  <Application>Microsoft Office PowerPoint</Application>
  <PresentationFormat>Widescreen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Calisto MT</vt:lpstr>
      <vt:lpstr>Fira Mono Medium</vt:lpstr>
      <vt:lpstr>Fira Sans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Tenzin Rigzin</dc:creator>
  <cp:lastModifiedBy>Tenzin Rigzin</cp:lastModifiedBy>
  <cp:revision>1</cp:revision>
  <dcterms:created xsi:type="dcterms:W3CDTF">2026-02-24T08:57:08Z</dcterms:created>
  <dcterms:modified xsi:type="dcterms:W3CDTF">2026-03-03T05:24:32Z</dcterms:modified>
</cp:coreProperties>
</file>